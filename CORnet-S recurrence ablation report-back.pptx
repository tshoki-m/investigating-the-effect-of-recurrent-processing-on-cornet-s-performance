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5" d="100"/>
          <a:sy n="95" d="100"/>
        </p:scale>
        <p:origin x="-178" y="-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A871537F-917C-4E2F-8175-A376A6EFEBBD}" type="datetimeFigureOut">
              <a:rPr lang="en-ZA" smtClean="0"/>
              <a:t>2026/10/29</a:t>
            </a:fld>
            <a:endParaRPr lang="en-ZA"/>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835642B2-79DC-4F2D-B22C-B46193773AB7}" type="slidenum">
              <a:rPr lang="en-ZA" smtClean="0"/>
              <a:t>‹#›</a:t>
            </a:fld>
            <a:endParaRPr lang="en-ZA"/>
          </a:p>
        </p:txBody>
      </p:sp>
    </p:spTree>
    <p:extLst>
      <p:ext uri="{BB962C8B-B14F-4D97-AF65-F5344CB8AC3E}">
        <p14:creationId xmlns:p14="http://schemas.microsoft.com/office/powerpoint/2010/main" val="713448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20 seconds. I set out to reproduce one claim from the CORnet-S paper: that recurrence matters for ImageNet accuracy. Short version: at my scale it did not reproduce, and I will show exactly how I know.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Fig. 4, row 1, Section 4.3. The authors trained each variant separately with identical hyperparameters and report the change in ImageNet top-1 relative to the 2/4/2 baseline: minus 7 with no recurrence, minus 1 for 2/2/2, no change with more steps. I read these off the rendered figure; they are rounded integers and the paper reports no seeds. I test only the ImageNet top-1 part, not Brain-Score and not the main-factor wording.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re-implemented CORnet-S. The architecture mirrors the official code, and the official pretrained weights load with strict key matching. I ran 12 trainings, four variants with three seeds each. Be plain about the scale: Tiny-ImageNet instead of ImageNet, 64 pixel inputs, and a 2 by 2 final feature map instead of 7 by 7. Authorship: the code was written with an AI assistant and I ran every experiment; say what you personally reviewed or changed.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like-for-like caveat first: different data, resolution and class count, so the question is whether direction and rough size survive. Then the numbers: 1/1/1 and 2/2/2 equal the baseline within noise, and 4/4/4 is 3.7 points worse. The paper says minus 7, minus 1 and zero. The plus-minus on the change is a standard error over three seeds, so treat it as rough.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Dots are individual seeds, the blue line is the mean with one standard deviation, the orange dashed line is the paper's Fig. 4 values. The blue line stays flat until 4/4/4 and then drops; the orange line is steep at the start and flat at the end. Remember that the comparison is not like for like: my regime is Tiny-ImageNet at 64 pixels.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message. No effect of removing recurrence, about 14 standard errors from the paper's minus 7, and 4/4/4 is clearly worse, with every 4/4/4 run below every run of the other configurations. What I cannot explain: why. I have three hypotheses and have tested none of them. What I tried: three seeds and the training curves. The no-pool variant with a 4 by 4 final map is implemented but I did not run it; say that plainly.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is training loss, right panel is validation top-1, per epoch. The three seeds of each variant cluster together. 1/1/1, 2/2/2 and 2/4/2 are nearly indistinguishable. 4/4/4 is separate in both panels: higher training loss from epoch 0 and lower validation accuracy throughout, so it is not overfitting, it fits the data worse. The learning rate is divided by 10 at epochs 20 and 40, which causes the jumps. Colours repeat across the twelve lines, so read the clusters, not single lines.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the paper does not report. First, seed noise: my first seed alone said plus 1.25 for 1/1/1, and seeds 1 and 2 showed it was noise. Second, training loss: 4/4/4 ends near 1.14 against 0.74 to 0.87 for the others, so it fits the data worse and is not overfitting; 2/2/2 and 2/4/2 fit the training data better than 1/1/1 without a validation gain. Third, cost: 55 to 78 minutes per run, growing with the number of steps. Next steps: the no-pool variant, a regime closer to the paper, a matched-depth control.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viva. The model is in cornet_s.py: each area (V2, V4, IT) is a block that repeats its circuit for the given number of steps. The first step downsamples with a stride-2 3x3 convolution and a strided skip; later steps keep the resolution. Convolution weights are shared across steps, BatchNorm is not. train.py trains one variant and saves a JSON history per run; analyze.py aggregates the histories; reproduce.py chains data preparation, training and analysis. Be ready to say which parts you wrote or changed yourself and which the AI assistant wrote.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C2430"/>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C243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C2430"/>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C243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30"/>
        </a:solidFill>
        <a:effectLst/>
      </p:bgPr>
    </p:bg>
    <p:spTree>
      <p:nvGrpSpPr>
        <p:cNvPr id="1" name=""/>
        <p:cNvGrpSpPr/>
        <p:nvPr/>
      </p:nvGrpSpPr>
      <p:grpSpPr>
        <a:xfrm>
          <a:off x="0" y="0"/>
          <a:ext cx="0" cy="0"/>
          <a:chOff x="0" y="0"/>
          <a:chExt cx="0" cy="0"/>
        </a:xfrm>
      </p:grpSpPr>
      <p:sp>
        <p:nvSpPr>
          <p:cNvPr id="2" name="Text 0"/>
          <p:cNvSpPr/>
          <p:nvPr/>
        </p:nvSpPr>
        <p:spPr>
          <a:xfrm>
            <a:off x="812800" y="195199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65A"/>
                </a:solidFill>
                <a:latin typeface="Arial" pitchFamily="34" charset="0"/>
                <a:ea typeface="Arial" pitchFamily="34" charset="-122"/>
                <a:cs typeface="Arial" pitchFamily="34" charset="-120"/>
              </a:rPr>
              <a:t>Reproduction report-back</a:t>
            </a:r>
            <a:endParaRPr lang="en-US" sz="1400" dirty="0"/>
          </a:p>
        </p:txBody>
      </p:sp>
      <p:sp>
        <p:nvSpPr>
          <p:cNvPr id="3" name="Text 1"/>
          <p:cNvSpPr>
            <a:spLocks noGrp="1"/>
          </p:cNvSpPr>
          <p:nvPr>
            <p:ph type="title"/>
          </p:nvPr>
        </p:nvSpPr>
        <p:spPr>
          <a:xfrm>
            <a:off x="812800" y="2454910"/>
            <a:ext cx="10883392" cy="668020"/>
          </a:xfrm>
          <a:prstGeom prst="rect">
            <a:avLst/>
          </a:prstGeom>
          <a:noFill/>
          <a:ln/>
        </p:spPr>
        <p:txBody>
          <a:bodyPr wrap="square" lIns="0" tIns="0" rIns="0" bIns="0" rtlCol="0" anchor="t">
            <a:normAutofit/>
          </a:bodyPr>
          <a:lstStyle/>
          <a:p>
            <a:pPr marL="0" indent="0" algn="l">
              <a:lnSpc>
                <a:spcPts val="5060"/>
              </a:lnSpc>
              <a:buNone/>
            </a:pPr>
            <a:r>
              <a:rPr lang="en-US" sz="4600" b="1" i="0" dirty="0">
                <a:solidFill>
                  <a:srgbClr val="F7F5F0"/>
                </a:solidFill>
                <a:latin typeface="Arial" pitchFamily="34" charset="0"/>
                <a:ea typeface="Arial" pitchFamily="34" charset="-122"/>
                <a:cs typeface="Arial" pitchFamily="34" charset="-120"/>
              </a:rPr>
              <a:t>Does recurrence help CORnet-S?</a:t>
            </a:r>
            <a:endParaRPr lang="en-US" sz="4600" dirty="0"/>
          </a:p>
        </p:txBody>
      </p:sp>
      <p:sp>
        <p:nvSpPr>
          <p:cNvPr id="4" name="Text 2"/>
          <p:cNvSpPr/>
          <p:nvPr/>
        </p:nvSpPr>
        <p:spPr>
          <a:xfrm>
            <a:off x="812800" y="3351530"/>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D9DDE3"/>
                </a:solidFill>
                <a:latin typeface="Arial" pitchFamily="34" charset="0"/>
                <a:ea typeface="Arial" pitchFamily="34" charset="-122"/>
                <a:cs typeface="Arial" pitchFamily="34" charset="-120"/>
              </a:rPr>
              <a:t>Reproducing Fig. 4 of Kubilius et al. (NeurIPS 2019). The effect did not reproduce.</a:t>
            </a:r>
            <a:endParaRPr lang="en-US" sz="2200" dirty="0"/>
          </a:p>
        </p:txBody>
      </p:sp>
      <p:sp>
        <p:nvSpPr>
          <p:cNvPr id="5" name="Text 3"/>
          <p:cNvSpPr/>
          <p:nvPr/>
        </p:nvSpPr>
        <p:spPr>
          <a:xfrm>
            <a:off x="812800" y="3896561"/>
            <a:ext cx="10883392" cy="274320"/>
          </a:xfrm>
          <a:prstGeom prst="rect">
            <a:avLst/>
          </a:prstGeom>
          <a:noFill/>
          <a:ln/>
        </p:spPr>
        <p:txBody>
          <a:bodyPr wrap="square" lIns="0" tIns="0" rIns="0" bIns="0" rtlCol="0" anchor="t">
            <a:normAutofit/>
          </a:bodyPr>
          <a:lstStyle/>
          <a:p>
            <a:pPr>
              <a:lnSpc>
                <a:spcPts val="1960"/>
              </a:lnSpc>
            </a:pPr>
            <a:r>
              <a:rPr lang="en-US" sz="1400" dirty="0" smtClean="0">
                <a:solidFill>
                  <a:schemeClr val="bg1"/>
                </a:solidFill>
              </a:rPr>
              <a:t>[Brain-like-object-recognition-with-high-performing-shallow-recurrent-anns-Paper ~ NeurIPS-2019]</a:t>
            </a:r>
            <a:endParaRPr lang="en-US" sz="1400" dirty="0">
              <a:solidFill>
                <a:schemeClr val="bg1"/>
              </a:solidFill>
            </a:endParaRPr>
          </a:p>
          <a:p>
            <a:pPr marL="0" indent="0" algn="l">
              <a:lnSpc>
                <a:spcPts val="1960"/>
              </a:lnSpc>
              <a:buNone/>
            </a:pPr>
            <a:endParaRPr lang="en-US" sz="1400" dirty="0">
              <a:solidFill>
                <a:schemeClr val="bg1"/>
              </a:solidFill>
            </a:endParaRPr>
          </a:p>
        </p:txBody>
      </p:sp>
      <p:sp>
        <p:nvSpPr>
          <p:cNvPr id="6" name="Text 4"/>
          <p:cNvSpPr/>
          <p:nvPr/>
        </p:nvSpPr>
        <p:spPr>
          <a:xfrm>
            <a:off x="812800" y="5329922"/>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AB2BD"/>
                </a:solidFill>
                <a:latin typeface="Arial" pitchFamily="34" charset="0"/>
                <a:ea typeface="Arial" pitchFamily="34" charset="-122"/>
                <a:cs typeface="Arial" pitchFamily="34" charset="-120"/>
              </a:rPr>
              <a:t>github.com/Tshoki-m/Investigating-the-Effect-of-Recurrent-Processing-on-CORnet-S-Performance</a:t>
            </a:r>
            <a:endParaRPr lang="en-US" sz="1300" dirty="0"/>
          </a:p>
        </p:txBody>
      </p:sp>
      <p:sp>
        <p:nvSpPr>
          <p:cNvPr id="7" name="Text 3"/>
          <p:cNvSpPr/>
          <p:nvPr/>
        </p:nvSpPr>
        <p:spPr>
          <a:xfrm>
            <a:off x="812800" y="4395469"/>
            <a:ext cx="3213768" cy="553519"/>
          </a:xfrm>
          <a:prstGeom prst="rect">
            <a:avLst/>
          </a:prstGeom>
          <a:noFill/>
          <a:ln/>
        </p:spPr>
        <p:txBody>
          <a:bodyPr wrap="square" lIns="0" tIns="0" rIns="0" bIns="0" rtlCol="0" anchor="t">
            <a:normAutofit/>
          </a:bodyPr>
          <a:lstStyle/>
          <a:p>
            <a:pPr marL="0" indent="0" algn="l">
              <a:lnSpc>
                <a:spcPts val="1960"/>
              </a:lnSpc>
              <a:buNone/>
            </a:pPr>
            <a:r>
              <a:rPr lang="en-US" sz="1400" dirty="0" smtClean="0">
                <a:solidFill>
                  <a:schemeClr val="bg1"/>
                </a:solidFill>
              </a:rPr>
              <a:t>Author: Margaret </a:t>
            </a:r>
            <a:r>
              <a:rPr lang="en-US" sz="1400" dirty="0" err="1" smtClean="0">
                <a:solidFill>
                  <a:schemeClr val="bg1"/>
                </a:solidFill>
              </a:rPr>
              <a:t>Keitshokile</a:t>
            </a:r>
            <a:r>
              <a:rPr lang="en-US" sz="1400" dirty="0" smtClean="0">
                <a:solidFill>
                  <a:schemeClr val="bg1"/>
                </a:solidFill>
              </a:rPr>
              <a:t> </a:t>
            </a:r>
            <a:r>
              <a:rPr lang="en-US" sz="1400" dirty="0" err="1" smtClean="0">
                <a:solidFill>
                  <a:schemeClr val="bg1"/>
                </a:solidFill>
              </a:rPr>
              <a:t>Molefe</a:t>
            </a:r>
            <a:r>
              <a:rPr lang="en-US" sz="1400" dirty="0" smtClean="0">
                <a:solidFill>
                  <a:schemeClr val="bg1"/>
                </a:solidFill>
              </a:rPr>
              <a:t>. </a:t>
            </a:r>
          </a:p>
          <a:p>
            <a:pPr marL="0" indent="0" algn="l">
              <a:lnSpc>
                <a:spcPts val="1960"/>
              </a:lnSpc>
              <a:buNone/>
            </a:pPr>
            <a:r>
              <a:rPr lang="en-US" sz="1400" dirty="0" smtClean="0">
                <a:solidFill>
                  <a:schemeClr val="bg1"/>
                </a:solidFill>
              </a:rPr>
              <a:t>Student Number: 456052</a:t>
            </a:r>
            <a:endParaRPr lang="en-US" sz="1400" dirty="0">
              <a:solidFill>
                <a:schemeClr val="bg1"/>
              </a:solidFill>
            </a:endParaRPr>
          </a:p>
          <a:p>
            <a:pPr marL="0" indent="0" algn="l">
              <a:lnSpc>
                <a:spcPts val="1960"/>
              </a:lnSpc>
              <a:buNone/>
            </a:pPr>
            <a:endParaRPr lang="en-US" sz="1400"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430"/>
                </a:solidFill>
                <a:latin typeface="Arial" pitchFamily="34" charset="0"/>
                <a:ea typeface="Arial" pitchFamily="34" charset="-122"/>
                <a:cs typeface="Arial" pitchFamily="34" charset="-120"/>
              </a:rPr>
              <a:t>The claim</a:t>
            </a:r>
            <a:endParaRPr lang="en-US" sz="3200" dirty="0"/>
          </a:p>
        </p:txBody>
      </p:sp>
      <p:sp>
        <p:nvSpPr>
          <p:cNvPr id="3" name="Text 1"/>
          <p:cNvSpPr/>
          <p:nvPr/>
        </p:nvSpPr>
        <p:spPr>
          <a:xfrm>
            <a:off x="812800" y="1564640"/>
            <a:ext cx="10883392" cy="37465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1C2430"/>
                </a:solidFill>
                <a:latin typeface="Arial" pitchFamily="34" charset="0"/>
                <a:ea typeface="Arial" pitchFamily="34" charset="-122"/>
                <a:cs typeface="Arial" pitchFamily="34" charset="-120"/>
              </a:rPr>
              <a:t>Removing recurrence from CORnet-S lowers ImageNet top-1 by about 7 points.</a:t>
            </a:r>
            <a:endParaRPr lang="en-US" sz="2200" dirty="0"/>
          </a:p>
        </p:txBody>
      </p:sp>
      <p:sp>
        <p:nvSpPr>
          <p:cNvPr id="4" name="Shape 2"/>
          <p:cNvSpPr/>
          <p:nvPr/>
        </p:nvSpPr>
        <p:spPr>
          <a:xfrm>
            <a:off x="815975" y="2221865"/>
            <a:ext cx="3380264" cy="1565910"/>
          </a:xfrm>
          <a:prstGeom prst="roundRect">
            <a:avLst>
              <a:gd name="adj" fmla="val 6285"/>
            </a:avLst>
          </a:prstGeom>
          <a:solidFill>
            <a:srgbClr val="FFFFFF"/>
          </a:solidFill>
          <a:ln w="6350">
            <a:solidFill>
              <a:srgbClr val="D8D6CF"/>
            </a:solidFill>
            <a:prstDash val="solid"/>
          </a:ln>
        </p:spPr>
      </p:sp>
      <p:sp>
        <p:nvSpPr>
          <p:cNvPr id="5" name="Text 3"/>
          <p:cNvSpPr/>
          <p:nvPr/>
        </p:nvSpPr>
        <p:spPr>
          <a:xfrm>
            <a:off x="1071880" y="2477770"/>
            <a:ext cx="295450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361"/>
                </a:solidFill>
                <a:latin typeface="Arial" pitchFamily="34" charset="0"/>
                <a:ea typeface="Arial" pitchFamily="34" charset="-122"/>
                <a:cs typeface="Arial" pitchFamily="34" charset="-120"/>
              </a:rPr>
              <a:t>1/1/1 (no recurrence)</a:t>
            </a:r>
            <a:endParaRPr lang="en-US" sz="1500" dirty="0"/>
          </a:p>
        </p:txBody>
      </p:sp>
      <p:sp>
        <p:nvSpPr>
          <p:cNvPr id="6" name="Text 4"/>
          <p:cNvSpPr/>
          <p:nvPr/>
        </p:nvSpPr>
        <p:spPr>
          <a:xfrm>
            <a:off x="1071880" y="2820670"/>
            <a:ext cx="2954507" cy="736600"/>
          </a:xfrm>
          <a:prstGeom prst="rect">
            <a:avLst/>
          </a:prstGeom>
          <a:noFill/>
          <a:ln/>
        </p:spPr>
        <p:txBody>
          <a:bodyPr wrap="square" lIns="0" tIns="0" rIns="0" bIns="0" rtlCol="0" anchor="t">
            <a:normAutofit/>
          </a:bodyPr>
          <a:lstStyle/>
          <a:p>
            <a:pPr marL="0" indent="0" algn="l">
              <a:lnSpc>
                <a:spcPts val="5600"/>
              </a:lnSpc>
              <a:buNone/>
            </a:pPr>
            <a:r>
              <a:rPr lang="en-US" sz="4000" b="1" dirty="0">
                <a:solidFill>
                  <a:srgbClr val="B45309"/>
                </a:solidFill>
                <a:latin typeface="Arial" pitchFamily="34" charset="0"/>
                <a:ea typeface="Arial" pitchFamily="34" charset="-122"/>
                <a:cs typeface="Arial" pitchFamily="34" charset="-120"/>
              </a:rPr>
              <a:t>-7</a:t>
            </a:r>
            <a:endParaRPr lang="en-US" sz="4000" dirty="0"/>
          </a:p>
        </p:txBody>
      </p:sp>
      <p:sp>
        <p:nvSpPr>
          <p:cNvPr id="7" name="Shape 5"/>
          <p:cNvSpPr/>
          <p:nvPr/>
        </p:nvSpPr>
        <p:spPr>
          <a:xfrm>
            <a:off x="4405789" y="2221865"/>
            <a:ext cx="3380343" cy="1565910"/>
          </a:xfrm>
          <a:prstGeom prst="roundRect">
            <a:avLst>
              <a:gd name="adj" fmla="val 6285"/>
            </a:avLst>
          </a:prstGeom>
          <a:solidFill>
            <a:srgbClr val="FFFFFF"/>
          </a:solidFill>
          <a:ln w="6350">
            <a:solidFill>
              <a:srgbClr val="D8D6CF"/>
            </a:solidFill>
            <a:prstDash val="solid"/>
          </a:ln>
        </p:spPr>
      </p:sp>
      <p:sp>
        <p:nvSpPr>
          <p:cNvPr id="8" name="Text 6"/>
          <p:cNvSpPr/>
          <p:nvPr/>
        </p:nvSpPr>
        <p:spPr>
          <a:xfrm>
            <a:off x="4661694" y="2477770"/>
            <a:ext cx="295458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361"/>
                </a:solidFill>
                <a:latin typeface="Arial" pitchFamily="34" charset="0"/>
                <a:ea typeface="Arial" pitchFamily="34" charset="-122"/>
                <a:cs typeface="Arial" pitchFamily="34" charset="-120"/>
              </a:rPr>
              <a:t>2/2/2</a:t>
            </a:r>
            <a:endParaRPr lang="en-US" sz="1500" dirty="0"/>
          </a:p>
        </p:txBody>
      </p:sp>
      <p:sp>
        <p:nvSpPr>
          <p:cNvPr id="9" name="Text 7"/>
          <p:cNvSpPr/>
          <p:nvPr/>
        </p:nvSpPr>
        <p:spPr>
          <a:xfrm>
            <a:off x="4661694" y="2820670"/>
            <a:ext cx="2954589" cy="736600"/>
          </a:xfrm>
          <a:prstGeom prst="rect">
            <a:avLst/>
          </a:prstGeom>
          <a:noFill/>
          <a:ln/>
        </p:spPr>
        <p:txBody>
          <a:bodyPr wrap="square" lIns="0" tIns="0" rIns="0" bIns="0" rtlCol="0" anchor="t">
            <a:normAutofit/>
          </a:bodyPr>
          <a:lstStyle/>
          <a:p>
            <a:pPr marL="0" indent="0" algn="l">
              <a:lnSpc>
                <a:spcPts val="5600"/>
              </a:lnSpc>
              <a:buNone/>
            </a:pPr>
            <a:r>
              <a:rPr lang="en-US" sz="4000" b="1" dirty="0">
                <a:solidFill>
                  <a:srgbClr val="B45309"/>
                </a:solidFill>
                <a:latin typeface="Arial" pitchFamily="34" charset="0"/>
                <a:ea typeface="Arial" pitchFamily="34" charset="-122"/>
                <a:cs typeface="Arial" pitchFamily="34" charset="-120"/>
              </a:rPr>
              <a:t>-1</a:t>
            </a:r>
            <a:endParaRPr lang="en-US" sz="4000" dirty="0"/>
          </a:p>
        </p:txBody>
      </p:sp>
      <p:sp>
        <p:nvSpPr>
          <p:cNvPr id="10" name="Shape 8"/>
          <p:cNvSpPr/>
          <p:nvPr/>
        </p:nvSpPr>
        <p:spPr>
          <a:xfrm>
            <a:off x="7995682" y="2221865"/>
            <a:ext cx="3380343" cy="1565910"/>
          </a:xfrm>
          <a:prstGeom prst="roundRect">
            <a:avLst>
              <a:gd name="adj" fmla="val 6285"/>
            </a:avLst>
          </a:prstGeom>
          <a:solidFill>
            <a:srgbClr val="FFFFFF"/>
          </a:solidFill>
          <a:ln w="6350">
            <a:solidFill>
              <a:srgbClr val="D8D6CF"/>
            </a:solidFill>
            <a:prstDash val="solid"/>
          </a:ln>
        </p:spPr>
      </p:sp>
      <p:sp>
        <p:nvSpPr>
          <p:cNvPr id="11" name="Text 9"/>
          <p:cNvSpPr/>
          <p:nvPr/>
        </p:nvSpPr>
        <p:spPr>
          <a:xfrm>
            <a:off x="8251587" y="2477770"/>
            <a:ext cx="295458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361"/>
                </a:solidFill>
                <a:latin typeface="Arial" pitchFamily="34" charset="0"/>
                <a:ea typeface="Arial" pitchFamily="34" charset="-122"/>
                <a:cs typeface="Arial" pitchFamily="34" charset="-120"/>
              </a:rPr>
              <a:t>4/4/4</a:t>
            </a:r>
            <a:endParaRPr lang="en-US" sz="1500" dirty="0"/>
          </a:p>
        </p:txBody>
      </p:sp>
      <p:sp>
        <p:nvSpPr>
          <p:cNvPr id="12" name="Text 10"/>
          <p:cNvSpPr/>
          <p:nvPr/>
        </p:nvSpPr>
        <p:spPr>
          <a:xfrm>
            <a:off x="8251587" y="2820670"/>
            <a:ext cx="2954589" cy="736600"/>
          </a:xfrm>
          <a:prstGeom prst="rect">
            <a:avLst/>
          </a:prstGeom>
          <a:noFill/>
          <a:ln/>
        </p:spPr>
        <p:txBody>
          <a:bodyPr wrap="square" lIns="0" tIns="0" rIns="0" bIns="0" rtlCol="0" anchor="t">
            <a:normAutofit/>
          </a:bodyPr>
          <a:lstStyle/>
          <a:p>
            <a:pPr marL="0" indent="0" algn="l">
              <a:lnSpc>
                <a:spcPts val="5600"/>
              </a:lnSpc>
              <a:buNone/>
            </a:pPr>
            <a:r>
              <a:rPr lang="en-US" sz="4000" b="1" dirty="0">
                <a:solidFill>
                  <a:srgbClr val="1D4ED8"/>
                </a:solidFill>
                <a:latin typeface="Arial" pitchFamily="34" charset="0"/>
                <a:ea typeface="Arial" pitchFamily="34" charset="-122"/>
                <a:cs typeface="Arial" pitchFamily="34" charset="-120"/>
              </a:rPr>
              <a:t>0</a:t>
            </a:r>
            <a:endParaRPr lang="en-US" sz="4000" dirty="0"/>
          </a:p>
        </p:txBody>
      </p:sp>
      <p:sp>
        <p:nvSpPr>
          <p:cNvPr id="13" name="Text 11"/>
          <p:cNvSpPr/>
          <p:nvPr/>
        </p:nvSpPr>
        <p:spPr>
          <a:xfrm>
            <a:off x="737937" y="4095749"/>
            <a:ext cx="10958255" cy="145481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361"/>
                </a:solidFill>
                <a:latin typeface="Arial" pitchFamily="34" charset="0"/>
                <a:ea typeface="Arial" pitchFamily="34" charset="-122"/>
                <a:cs typeface="Arial" pitchFamily="34" charset="-120"/>
              </a:rPr>
              <a:t>Change in top-1 versus the 2/4/2 baseline (recurrent steps in V2/V4/IT). Variants trained separately, identical hyperparameters, no seeds or error bars reported</a:t>
            </a:r>
            <a:r>
              <a:rPr lang="en-US" sz="1500" dirty="0" smtClean="0">
                <a:solidFill>
                  <a:srgbClr val="4A5361"/>
                </a:solidFill>
                <a:latin typeface="Arial" pitchFamily="34" charset="0"/>
                <a:ea typeface="Arial" pitchFamily="34" charset="-122"/>
                <a:cs typeface="Arial" pitchFamily="34" charset="-120"/>
              </a:rPr>
              <a:t>.</a:t>
            </a:r>
          </a:p>
          <a:p>
            <a:pPr marL="0" indent="0" algn="l">
              <a:lnSpc>
                <a:spcPts val="2100"/>
              </a:lnSpc>
              <a:buNone/>
            </a:pPr>
            <a:endParaRPr lang="en-US" sz="1500" dirty="0">
              <a:solidFill>
                <a:srgbClr val="4A5361"/>
              </a:solidFill>
              <a:latin typeface="Arial" pitchFamily="34" charset="0"/>
              <a:cs typeface="Arial" pitchFamily="34" charset="-120"/>
            </a:endParaRPr>
          </a:p>
          <a:p>
            <a:pPr>
              <a:lnSpc>
                <a:spcPts val="2100"/>
              </a:lnSpc>
            </a:pPr>
            <a:r>
              <a:rPr lang="en-US" sz="1600" dirty="0"/>
              <a:t>The paper uses 1.28M images, 1000 classes and 224×224 </a:t>
            </a:r>
            <a:r>
              <a:rPr lang="en-US" sz="1600" dirty="0" smtClean="0"/>
              <a:t>inputs.</a:t>
            </a:r>
            <a:endParaRPr lang="en-US" sz="1500" dirty="0"/>
          </a:p>
        </p:txBody>
      </p:sp>
      <p:sp>
        <p:nvSpPr>
          <p:cNvPr id="14" name="Text 12"/>
          <p:cNvSpPr/>
          <p:nvPr/>
        </p:nvSpPr>
        <p:spPr>
          <a:xfrm>
            <a:off x="812800" y="6238241"/>
            <a:ext cx="435054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361"/>
                </a:solidFill>
                <a:latin typeface="Arial" pitchFamily="34" charset="0"/>
                <a:ea typeface="Arial" pitchFamily="34" charset="-122"/>
                <a:cs typeface="Arial" pitchFamily="34" charset="-120"/>
              </a:rPr>
              <a:t>Kubilius et al., NeurIPS 2019 · Fig. 4, row 1 (Sec. 4.3)</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430"/>
                </a:solidFill>
                <a:latin typeface="Arial" pitchFamily="34" charset="0"/>
                <a:ea typeface="Arial" pitchFamily="34" charset="-122"/>
                <a:cs typeface="Arial" pitchFamily="34" charset="-120"/>
              </a:rPr>
              <a:t>My setup: scaled down</a:t>
            </a:r>
            <a:endParaRPr lang="en-US" sz="3200" dirty="0"/>
          </a:p>
        </p:txBody>
      </p:sp>
      <p:sp>
        <p:nvSpPr>
          <p:cNvPr id="3" name="Shape 1"/>
          <p:cNvSpPr/>
          <p:nvPr/>
        </p:nvSpPr>
        <p:spPr>
          <a:xfrm>
            <a:off x="815975" y="1567815"/>
            <a:ext cx="3290804" cy="3220753"/>
          </a:xfrm>
          <a:prstGeom prst="roundRect">
            <a:avLst>
              <a:gd name="adj" fmla="val 3846"/>
            </a:avLst>
          </a:prstGeom>
          <a:solidFill>
            <a:srgbClr val="FFFFFF"/>
          </a:solidFill>
          <a:ln w="6350">
            <a:solidFill>
              <a:srgbClr val="D8D6CF"/>
            </a:solidFill>
            <a:prstDash val="solid"/>
          </a:ln>
        </p:spPr>
      </p:sp>
      <p:sp>
        <p:nvSpPr>
          <p:cNvPr id="4" name="Text 2"/>
          <p:cNvSpPr/>
          <p:nvPr/>
        </p:nvSpPr>
        <p:spPr>
          <a:xfrm>
            <a:off x="1071880" y="1823720"/>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C2430"/>
                </a:solidFill>
                <a:latin typeface="Arial" pitchFamily="34" charset="0"/>
                <a:ea typeface="Arial" pitchFamily="34" charset="-122"/>
                <a:cs typeface="Arial" pitchFamily="34" charset="-120"/>
              </a:rPr>
              <a:t>What I ran</a:t>
            </a:r>
            <a:endParaRPr lang="en-US" sz="1800" dirty="0"/>
          </a:p>
        </p:txBody>
      </p:sp>
      <p:sp>
        <p:nvSpPr>
          <p:cNvPr id="5" name="Text 3"/>
          <p:cNvSpPr/>
          <p:nvPr/>
        </p:nvSpPr>
        <p:spPr>
          <a:xfrm>
            <a:off x="1148588" y="2225040"/>
            <a:ext cx="2605265" cy="2619675"/>
          </a:xfrm>
          <a:prstGeom prst="rect">
            <a:avLst/>
          </a:prstGeom>
          <a:noFill/>
          <a:ln/>
        </p:spPr>
        <p:txBody>
          <a:bodyPr wrap="square" lIns="0" tIns="0" rIns="0" bIns="0" rtlCol="0" anchor="t">
            <a:normAutofit/>
          </a:bodyPr>
          <a:lstStyle/>
          <a:p>
            <a:pPr marL="177292" indent="-177292" algn="l">
              <a:lnSpc>
                <a:spcPts val="2160"/>
              </a:lnSpc>
              <a:buSzPct val="100000"/>
              <a:buChar char="•"/>
            </a:pPr>
            <a:r>
              <a:rPr lang="en-US" sz="1600" dirty="0">
                <a:solidFill>
                  <a:srgbClr val="1C2430"/>
                </a:solidFill>
                <a:latin typeface="Arial" pitchFamily="34" charset="0"/>
                <a:ea typeface="Arial" pitchFamily="34" charset="-122"/>
                <a:cs typeface="Arial" pitchFamily="34" charset="-120"/>
              </a:rPr>
              <a:t>Re-implemented CORnet-S; official weights load with strict key matching</a:t>
            </a:r>
            <a:endParaRPr lang="en-US" sz="1600" dirty="0"/>
          </a:p>
          <a:p>
            <a:pPr marL="177292" indent="-177292" algn="l">
              <a:lnSpc>
                <a:spcPts val="2160"/>
              </a:lnSpc>
              <a:buSzPct val="100000"/>
              <a:buChar char="•"/>
            </a:pPr>
            <a:r>
              <a:rPr lang="en-US" sz="1600" dirty="0">
                <a:solidFill>
                  <a:srgbClr val="1C2430"/>
                </a:solidFill>
                <a:latin typeface="Arial" pitchFamily="34" charset="0"/>
                <a:ea typeface="Arial" pitchFamily="34" charset="-122"/>
                <a:cs typeface="Arial" pitchFamily="34" charset="-120"/>
              </a:rPr>
              <a:t>4 variants × 3 seeds = 12 runs, trained from scratch</a:t>
            </a:r>
            <a:endParaRPr lang="en-US" sz="1600" dirty="0"/>
          </a:p>
          <a:p>
            <a:pPr marL="177292" indent="-177292" algn="l">
              <a:lnSpc>
                <a:spcPts val="2160"/>
              </a:lnSpc>
              <a:buSzPct val="100000"/>
              <a:buChar char="•"/>
            </a:pPr>
            <a:r>
              <a:rPr lang="en-US" sz="1600" dirty="0">
                <a:solidFill>
                  <a:srgbClr val="1C2430"/>
                </a:solidFill>
                <a:latin typeface="Arial" pitchFamily="34" charset="0"/>
                <a:ea typeface="Arial" pitchFamily="34" charset="-122"/>
                <a:cs typeface="Arial" pitchFamily="34" charset="-120"/>
              </a:rPr>
              <a:t>Paper's optimizer and schedule: SGD, 43 epochs, batch 256</a:t>
            </a:r>
            <a:endParaRPr lang="en-US" sz="1600" dirty="0"/>
          </a:p>
        </p:txBody>
      </p:sp>
      <p:sp>
        <p:nvSpPr>
          <p:cNvPr id="6" name="Shape 4"/>
          <p:cNvSpPr/>
          <p:nvPr/>
        </p:nvSpPr>
        <p:spPr>
          <a:xfrm>
            <a:off x="4249775" y="1623695"/>
            <a:ext cx="3480636" cy="3220754"/>
          </a:xfrm>
          <a:prstGeom prst="roundRect">
            <a:avLst>
              <a:gd name="adj" fmla="val 3846"/>
            </a:avLst>
          </a:prstGeom>
          <a:solidFill>
            <a:srgbClr val="FFFFFF"/>
          </a:solidFill>
          <a:ln w="6350">
            <a:solidFill>
              <a:srgbClr val="D8D6CF"/>
            </a:solidFill>
            <a:prstDash val="solid"/>
          </a:ln>
        </p:spPr>
      </p:sp>
      <p:sp>
        <p:nvSpPr>
          <p:cNvPr id="7" name="Text 5"/>
          <p:cNvSpPr/>
          <p:nvPr/>
        </p:nvSpPr>
        <p:spPr>
          <a:xfrm>
            <a:off x="4667985" y="1818640"/>
            <a:ext cx="296805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09"/>
                </a:solidFill>
                <a:latin typeface="Arial" pitchFamily="34" charset="0"/>
                <a:ea typeface="Arial" pitchFamily="34" charset="-122"/>
                <a:cs typeface="Arial" pitchFamily="34" charset="-120"/>
              </a:rPr>
              <a:t>What I changed</a:t>
            </a:r>
            <a:endParaRPr lang="en-US" sz="1800" dirty="0"/>
          </a:p>
        </p:txBody>
      </p:sp>
      <p:sp>
        <p:nvSpPr>
          <p:cNvPr id="8" name="Text 6"/>
          <p:cNvSpPr/>
          <p:nvPr/>
        </p:nvSpPr>
        <p:spPr>
          <a:xfrm>
            <a:off x="4536398" y="2372628"/>
            <a:ext cx="3019686" cy="1901825"/>
          </a:xfrm>
          <a:prstGeom prst="rect">
            <a:avLst/>
          </a:prstGeom>
          <a:noFill/>
          <a:ln/>
        </p:spPr>
        <p:txBody>
          <a:bodyPr wrap="square" lIns="0" tIns="0" rIns="0" bIns="0" rtlCol="0" anchor="t">
            <a:normAutofit fontScale="92500"/>
          </a:bodyPr>
          <a:lstStyle/>
          <a:p>
            <a:pPr marL="177292" indent="-177292" algn="l">
              <a:lnSpc>
                <a:spcPts val="2160"/>
              </a:lnSpc>
              <a:buSzPct val="100000"/>
              <a:buChar char="•"/>
            </a:pPr>
            <a:r>
              <a:rPr lang="en-US" sz="1600" dirty="0">
                <a:solidFill>
                  <a:srgbClr val="1C2430"/>
                </a:solidFill>
                <a:latin typeface="Arial" pitchFamily="34" charset="0"/>
                <a:ea typeface="Arial" pitchFamily="34" charset="-122"/>
                <a:cs typeface="Arial" pitchFamily="34" charset="-120"/>
              </a:rPr>
              <a:t>Tiny-ImageNet: 100k images, 200 classes, not ImageNet</a:t>
            </a:r>
            <a:endParaRPr lang="en-US" sz="1600" dirty="0"/>
          </a:p>
          <a:p>
            <a:pPr marL="177292" indent="-177292" algn="l">
              <a:lnSpc>
                <a:spcPts val="2160"/>
              </a:lnSpc>
              <a:buSzPct val="100000"/>
              <a:buChar char="•"/>
            </a:pPr>
            <a:r>
              <a:rPr lang="en-US" sz="1600" dirty="0">
                <a:solidFill>
                  <a:srgbClr val="1C2430"/>
                </a:solidFill>
                <a:latin typeface="Arial" pitchFamily="34" charset="0"/>
                <a:ea typeface="Arial" pitchFamily="34" charset="-122"/>
                <a:cs typeface="Arial" pitchFamily="34" charset="-120"/>
              </a:rPr>
              <a:t>64×64 inputs, so a 2×2 final map instead of 7×7</a:t>
            </a:r>
            <a:endParaRPr lang="en-US" sz="1600" dirty="0"/>
          </a:p>
          <a:p>
            <a:pPr marL="177292" indent="-177292" algn="l">
              <a:lnSpc>
                <a:spcPts val="2160"/>
              </a:lnSpc>
              <a:buSzPct val="100000"/>
              <a:buChar char="•"/>
            </a:pPr>
            <a:r>
              <a:rPr lang="en-US" sz="1600" dirty="0">
                <a:solidFill>
                  <a:srgbClr val="1C2430"/>
                </a:solidFill>
                <a:latin typeface="Arial" pitchFamily="34" charset="0"/>
                <a:ea typeface="Arial" pitchFamily="34" charset="-122"/>
                <a:cs typeface="Arial" pitchFamily="34" charset="-120"/>
              </a:rPr>
              <a:t>Mixed precision, crop scale 0.35, weight decay 1e-4 assumed</a:t>
            </a:r>
            <a:endParaRPr lang="en-US" sz="1600" dirty="0"/>
          </a:p>
        </p:txBody>
      </p:sp>
      <p:sp>
        <p:nvSpPr>
          <p:cNvPr id="9" name="Text 7"/>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361"/>
                </a:solidFill>
                <a:latin typeface="Arial" pitchFamily="34" charset="0"/>
                <a:ea typeface="Arial" pitchFamily="34" charset="-122"/>
                <a:cs typeface="Arial" pitchFamily="34" charset="-120"/>
              </a:rPr>
              <a:t>Code written with an AI assistant (Claude); I ran every experiment on Colab.</a:t>
            </a:r>
            <a:endParaRPr lang="en-US" sz="1200" dirty="0"/>
          </a:p>
        </p:txBody>
      </p:sp>
      <p:sp>
        <p:nvSpPr>
          <p:cNvPr id="10" name="Shape 9"/>
          <p:cNvSpPr/>
          <p:nvPr/>
        </p:nvSpPr>
        <p:spPr>
          <a:xfrm>
            <a:off x="7996986" y="1567814"/>
            <a:ext cx="3379035" cy="3220754"/>
          </a:xfrm>
          <a:prstGeom prst="roundRect">
            <a:avLst>
              <a:gd name="adj" fmla="val 2912"/>
            </a:avLst>
          </a:prstGeom>
          <a:solidFill>
            <a:srgbClr val="FFFFFF"/>
          </a:solidFill>
          <a:ln w="6350">
            <a:solidFill>
              <a:srgbClr val="D9D4C7"/>
            </a:solidFill>
            <a:prstDash val="solid"/>
          </a:ln>
        </p:spPr>
      </p:sp>
      <p:sp>
        <p:nvSpPr>
          <p:cNvPr id="11" name="Text 10"/>
          <p:cNvSpPr/>
          <p:nvPr/>
        </p:nvSpPr>
        <p:spPr>
          <a:xfrm>
            <a:off x="8251587" y="1879600"/>
            <a:ext cx="29545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30"/>
                </a:solidFill>
                <a:latin typeface="Arial" pitchFamily="34" charset="0"/>
                <a:ea typeface="Arial" pitchFamily="34" charset="-122"/>
                <a:cs typeface="Arial" pitchFamily="34" charset="-120"/>
              </a:rPr>
              <a:t>Kept from the paper</a:t>
            </a:r>
            <a:endParaRPr lang="en-US" sz="1800" dirty="0"/>
          </a:p>
        </p:txBody>
      </p:sp>
      <p:sp>
        <p:nvSpPr>
          <p:cNvPr id="12" name="Text 11"/>
          <p:cNvSpPr/>
          <p:nvPr/>
        </p:nvSpPr>
        <p:spPr>
          <a:xfrm>
            <a:off x="8251586" y="2372627"/>
            <a:ext cx="2954589" cy="2046973"/>
          </a:xfrm>
          <a:prstGeom prst="rect">
            <a:avLst/>
          </a:prstGeom>
          <a:noFill/>
          <a:ln/>
        </p:spPr>
        <p:txBody>
          <a:bodyPr wrap="square" lIns="0" tIns="0" rIns="0" bIns="0" rtlCol="0" anchor="t">
            <a:normAutofit/>
          </a:bodyPr>
          <a:lstStyle/>
          <a:p>
            <a:pPr marL="285750" indent="-285750" algn="l">
              <a:lnSpc>
                <a:spcPts val="2025"/>
              </a:lnSpc>
              <a:buFont typeface="Arial" pitchFamily="34" charset="0"/>
              <a:buChar char="•"/>
            </a:pPr>
            <a:r>
              <a:rPr lang="en-US" sz="1500" dirty="0">
                <a:solidFill>
                  <a:srgbClr val="1B2430"/>
                </a:solidFill>
                <a:latin typeface="Arial" pitchFamily="34" charset="0"/>
                <a:ea typeface="Arial" pitchFamily="34" charset="-122"/>
                <a:cs typeface="Arial" pitchFamily="34" charset="-120"/>
              </a:rPr>
              <a:t>SGD with momentum 0.9, batch 256, learning rate 0.1 divided by 10 every 20 epochs, 43 epochs</a:t>
            </a:r>
            <a:r>
              <a:rPr lang="en-US" sz="1500" dirty="0" smtClean="0">
                <a:solidFill>
                  <a:srgbClr val="1B2430"/>
                </a:solidFill>
                <a:latin typeface="Arial" pitchFamily="34" charset="0"/>
                <a:ea typeface="Arial" pitchFamily="34" charset="-122"/>
                <a:cs typeface="Arial" pitchFamily="34" charset="-120"/>
              </a:rPr>
              <a:t>.</a:t>
            </a:r>
          </a:p>
          <a:p>
            <a:pPr marL="285750" indent="-285750">
              <a:lnSpc>
                <a:spcPts val="2025"/>
              </a:lnSpc>
              <a:buFont typeface="Arial" pitchFamily="34" charset="0"/>
              <a:buChar char="•"/>
            </a:pPr>
            <a:r>
              <a:rPr lang="en-US" sz="1500" dirty="0">
                <a:solidFill>
                  <a:srgbClr val="1B2430"/>
                </a:solidFill>
                <a:latin typeface="Arial" pitchFamily="34" charset="0"/>
                <a:ea typeface="Arial" pitchFamily="34" charset="-122"/>
                <a:cs typeface="Arial" pitchFamily="34" charset="-120"/>
              </a:rPr>
              <a:t>One shared recipe for every variant.</a:t>
            </a:r>
            <a:endParaRPr lang="en-US" sz="1500" dirty="0"/>
          </a:p>
          <a:p>
            <a:pPr marL="285750" indent="-285750" algn="l">
              <a:lnSpc>
                <a:spcPts val="2025"/>
              </a:lnSpc>
              <a:buFont typeface="Arial" pitchFamily="34" charset="0"/>
              <a:buChar char="•"/>
            </a:pPr>
            <a:endParaRPr lang="en-US" sz="1500" dirty="0" smtClean="0">
              <a:solidFill>
                <a:srgbClr val="1B2430"/>
              </a:solidFill>
              <a:latin typeface="Arial" pitchFamily="34" charset="0"/>
              <a:ea typeface="Arial" pitchFamily="34" charset="-122"/>
              <a:cs typeface="Arial" pitchFamily="34" charset="-120"/>
            </a:endParaRPr>
          </a:p>
          <a:p>
            <a:pPr marL="285750" indent="-285750" algn="l">
              <a:lnSpc>
                <a:spcPts val="2025"/>
              </a:lnSpc>
              <a:buFont typeface="Arial" pitchFamily="34" charset="0"/>
              <a:buChar char="•"/>
            </a:pPr>
            <a:endParaRPr lang="en-US" sz="15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430"/>
                </a:solidFill>
                <a:latin typeface="Arial" pitchFamily="34" charset="0"/>
                <a:ea typeface="Arial" pitchFamily="34" charset="-122"/>
                <a:cs typeface="Arial" pitchFamily="34" charset="-120"/>
              </a:rPr>
              <a:t>My numbers next to the paper's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4801"/>
          <a:ext cx="10556240" cy="2184400"/>
        </p:xfrm>
        <a:graphic>
          <a:graphicData uri="http://schemas.openxmlformats.org/drawingml/2006/table">
            <a:tbl>
              <a:tblPr/>
              <a:tblGrid>
                <a:gridCol w="2639060"/>
                <a:gridCol w="2639060"/>
                <a:gridCol w="2639060"/>
                <a:gridCol w="2639060"/>
              </a:tblGrid>
              <a:tr h="436880">
                <a:tc>
                  <a:txBody>
                    <a:bodyPr/>
                    <a:lstStyle/>
                    <a:p>
                      <a:pPr marL="0" indent="0">
                        <a:lnSpc>
                          <a:spcPts val="2240"/>
                        </a:lnSpc>
                        <a:buNone/>
                      </a:pPr>
                      <a:r>
                        <a:rPr lang="en-US" sz="1600" b="1" dirty="0">
                          <a:solidFill>
                            <a:srgbClr val="F7F5F0"/>
                          </a:solidFill>
                          <a:latin typeface="Arial" pitchFamily="34" charset="0"/>
                          <a:ea typeface="Arial" pitchFamily="34" charset="-122"/>
                          <a:cs typeface="Arial" pitchFamily="34" charset="-120"/>
                        </a:rPr>
                        <a:t>V2/V4/IT steps</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marL="0" indent="0">
                        <a:lnSpc>
                          <a:spcPts val="2240"/>
                        </a:lnSpc>
                        <a:buNone/>
                      </a:pPr>
                      <a:r>
                        <a:rPr lang="en-US" sz="1600" b="1" dirty="0">
                          <a:solidFill>
                            <a:srgbClr val="F7F5F0"/>
                          </a:solidFill>
                          <a:latin typeface="Arial" pitchFamily="34" charset="0"/>
                          <a:ea typeface="Arial" pitchFamily="34" charset="-122"/>
                          <a:cs typeface="Arial" pitchFamily="34" charset="-120"/>
                        </a:rPr>
                        <a:t>My top-1 (%)</a:t>
                      </a:r>
                      <a:endParaRPr lang="en-US" sz="1600" dirty="0">
                        <a:latin typeface="Arial" charset="0"/>
                        <a:ea typeface="Arial" charset="0"/>
                        <a:cs typeface="Arial" charset="0"/>
                      </a:endParaRPr>
                    </a:p>
                  </a:txBody>
                  <a:tcPr marL="71120" marR="71120" marT="71120" marB="71120">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marL="0" indent="0">
                        <a:lnSpc>
                          <a:spcPts val="2240"/>
                        </a:lnSpc>
                        <a:buNone/>
                      </a:pPr>
                      <a:r>
                        <a:rPr lang="en-US" sz="1600" b="1" dirty="0">
                          <a:solidFill>
                            <a:srgbClr val="F7F5F0"/>
                          </a:solidFill>
                          <a:latin typeface="Arial" pitchFamily="34" charset="0"/>
                          <a:ea typeface="Arial" pitchFamily="34" charset="-122"/>
                          <a:cs typeface="Arial" pitchFamily="34" charset="-120"/>
                        </a:rPr>
                        <a:t>My change</a:t>
                      </a:r>
                      <a:endParaRPr lang="en-US" sz="1600" dirty="0">
                        <a:latin typeface="Arial" charset="0"/>
                        <a:ea typeface="Arial" charset="0"/>
                        <a:cs typeface="Arial" charset="0"/>
                      </a:endParaRPr>
                    </a:p>
                  </a:txBody>
                  <a:tcPr marL="71120" marR="71120" marT="71120" marB="71120">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marL="0" indent="0">
                        <a:lnSpc>
                          <a:spcPts val="2240"/>
                        </a:lnSpc>
                        <a:buNone/>
                      </a:pPr>
                      <a:r>
                        <a:rPr lang="en-US" sz="1600" b="1" dirty="0">
                          <a:solidFill>
                            <a:srgbClr val="F7F5F0"/>
                          </a:solidFill>
                          <a:latin typeface="Arial" pitchFamily="34" charset="0"/>
                          <a:ea typeface="Arial" pitchFamily="34" charset="-122"/>
                          <a:cs typeface="Arial" pitchFamily="34" charset="-120"/>
                        </a:rPr>
                        <a:t>Paper change</a:t>
                      </a:r>
                      <a:endParaRPr lang="en-US" sz="1600" dirty="0">
                        <a:latin typeface="Arial" charset="0"/>
                        <a:ea typeface="Arial" charset="0"/>
                        <a:cs typeface="Arial" charset="0"/>
                      </a:endParaRPr>
                    </a:p>
                  </a:txBody>
                  <a:tcPr marL="71120" marR="71120" marT="71120" marB="71120">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436880">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1/1/1</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48.30 ± 0.76</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-0.01 ± 0.51</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B45309"/>
                          </a:solidFill>
                          <a:latin typeface="Arial" pitchFamily="34" charset="0"/>
                          <a:ea typeface="Arial" pitchFamily="34" charset="-122"/>
                          <a:cs typeface="Arial" pitchFamily="34" charset="-120"/>
                        </a:rPr>
                        <a:t>-7</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2/2/2</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48.47 ± 0.47</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+0.17 ± 0.37</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B45309"/>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2/4/2 (baseline)</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48.30 ± 0.44</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6880">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4/4/4</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44.59 ± 0.38</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B45309"/>
                          </a:solidFill>
                          <a:latin typeface="Arial" pitchFamily="34" charset="0"/>
                          <a:ea typeface="Arial" pitchFamily="34" charset="-122"/>
                          <a:cs typeface="Arial" pitchFamily="34" charset="-120"/>
                        </a:rPr>
                        <a:t>-3.72 ± 0.33</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C2430"/>
                          </a:solidFill>
                          <a:latin typeface="Arial" pitchFamily="34" charset="0"/>
                          <a:ea typeface="Arial" pitchFamily="34" charset="-122"/>
                          <a:cs typeface="Arial" pitchFamily="34" charset="-120"/>
                        </a:rPr>
                        <a:t>0</a:t>
                      </a:r>
                      <a:endParaRPr lang="en-US" sz="1600" dirty="0">
                        <a:latin typeface="Arial" charset="0"/>
                        <a:ea typeface="Arial" charset="0"/>
                        <a:cs typeface="Arial"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4" name="Text 1"/>
          <p:cNvSpPr/>
          <p:nvPr/>
        </p:nvSpPr>
        <p:spPr>
          <a:xfrm>
            <a:off x="812800" y="40640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361"/>
                </a:solidFill>
                <a:latin typeface="Arial" pitchFamily="34" charset="0"/>
                <a:ea typeface="Arial" pitchFamily="34" charset="-122"/>
                <a:cs typeface="Arial" pitchFamily="34" charset="-120"/>
              </a:rPr>
              <a:t>Mean ± sd over 3 seeds; change is mean difference ± standard error. Not like for like: different data, resolution and class count.</a:t>
            </a:r>
            <a:endParaRPr lang="en-US" sz="1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430"/>
                </a:solidFill>
                <a:latin typeface="Arial" pitchFamily="34" charset="0"/>
                <a:ea typeface="Arial" pitchFamily="34" charset="-122"/>
                <a:cs typeface="Arial" pitchFamily="34" charset="-120"/>
              </a:rPr>
              <a:t>Change in top-1 versus 2/4/2</a:t>
            </a:r>
            <a:endParaRPr lang="en-US" sz="3200" dirty="0"/>
          </a:p>
        </p:txBody>
      </p:sp>
      <p:pic>
        <p:nvPicPr>
          <p:cNvPr id="3" name="Image 0" descr="Change in top-1 versus the 2/4/2 baseline per recurrence configuration: my mean with sd and individual seeds, and the paper's values"/>
          <p:cNvPicPr>
            <a:picLocks noChangeAspect="1"/>
          </p:cNvPicPr>
          <p:nvPr/>
        </p:nvPicPr>
        <p:blipFill>
          <a:blip r:embed="rId3"/>
          <a:srcRect/>
          <a:stretch/>
        </p:blipFill>
        <p:spPr>
          <a:xfrm>
            <a:off x="812800" y="1513839"/>
            <a:ext cx="6350000" cy="3810000"/>
          </a:xfrm>
          <a:prstGeom prst="rect">
            <a:avLst/>
          </a:prstGeom>
        </p:spPr>
      </p:pic>
      <p:sp>
        <p:nvSpPr>
          <p:cNvPr id="4" name="Text 1"/>
          <p:cNvSpPr/>
          <p:nvPr/>
        </p:nvSpPr>
        <p:spPr>
          <a:xfrm>
            <a:off x="7537196" y="2965450"/>
            <a:ext cx="3951732" cy="932180"/>
          </a:xfrm>
          <a:prstGeom prst="rect">
            <a:avLst/>
          </a:prstGeom>
          <a:noFill/>
          <a:ln/>
        </p:spPr>
        <p:txBody>
          <a:bodyPr wrap="square" lIns="0" tIns="0" rIns="0" bIns="0" rtlCol="0" anchor="t">
            <a:normAutofit/>
          </a:bodyPr>
          <a:lstStyle/>
          <a:p>
            <a:pPr marL="184404" indent="-184404" algn="l">
              <a:lnSpc>
                <a:spcPts val="2380"/>
              </a:lnSpc>
              <a:buSzPct val="100000"/>
              <a:buChar char="•"/>
            </a:pPr>
            <a:r>
              <a:rPr lang="en-US" sz="1700" dirty="0">
                <a:solidFill>
                  <a:srgbClr val="1C2430"/>
                </a:solidFill>
                <a:latin typeface="Arial" pitchFamily="34" charset="0"/>
                <a:ea typeface="Arial" pitchFamily="34" charset="-122"/>
                <a:cs typeface="Arial" pitchFamily="34" charset="-120"/>
              </a:rPr>
              <a:t>1/1/1 and 2/2/2 sit on the baseline</a:t>
            </a:r>
            <a:endParaRPr lang="en-US" sz="1700" dirty="0"/>
          </a:p>
          <a:p>
            <a:pPr marL="184404" indent="-184404" algn="l">
              <a:lnSpc>
                <a:spcPts val="2380"/>
              </a:lnSpc>
              <a:buSzPct val="100000"/>
              <a:buChar char="•"/>
            </a:pPr>
            <a:r>
              <a:rPr lang="en-US" sz="1700" dirty="0">
                <a:solidFill>
                  <a:srgbClr val="1C2430"/>
                </a:solidFill>
                <a:latin typeface="Arial" pitchFamily="34" charset="0"/>
                <a:ea typeface="Arial" pitchFamily="34" charset="-122"/>
                <a:cs typeface="Arial" pitchFamily="34" charset="-120"/>
              </a:rPr>
              <a:t>4/4/4 drops about 3.7 points</a:t>
            </a:r>
            <a:endParaRPr lang="en-US" sz="1700" dirty="0"/>
          </a:p>
          <a:p>
            <a:pPr marL="184404" indent="-184404" algn="l">
              <a:lnSpc>
                <a:spcPts val="2380"/>
              </a:lnSpc>
              <a:buSzPct val="100000"/>
              <a:buChar char="•"/>
            </a:pPr>
            <a:r>
              <a:rPr lang="en-US" sz="1700" dirty="0">
                <a:solidFill>
                  <a:srgbClr val="1C2430"/>
                </a:solidFill>
                <a:latin typeface="Arial" pitchFamily="34" charset="0"/>
                <a:ea typeface="Arial" pitchFamily="34" charset="-122"/>
                <a:cs typeface="Arial" pitchFamily="34" charset="-120"/>
              </a:rPr>
              <a:t>The paper's curve goes the other way</a:t>
            </a:r>
            <a:endParaRPr lang="en-US" sz="17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243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5F0"/>
                </a:solidFill>
                <a:latin typeface="Arial" pitchFamily="34" charset="0"/>
                <a:ea typeface="Arial" pitchFamily="34" charset="-122"/>
                <a:cs typeface="Arial" pitchFamily="34" charset="-120"/>
              </a:rPr>
              <a:t>What did not reproduce</a:t>
            </a:r>
            <a:endParaRPr lang="en-US" sz="3200" dirty="0"/>
          </a:p>
        </p:txBody>
      </p:sp>
      <p:sp>
        <p:nvSpPr>
          <p:cNvPr id="3" name="Shape 1"/>
          <p:cNvSpPr/>
          <p:nvPr/>
        </p:nvSpPr>
        <p:spPr>
          <a:xfrm>
            <a:off x="812800" y="1539239"/>
            <a:ext cx="5181600" cy="1455420"/>
          </a:xfrm>
          <a:prstGeom prst="roundRect">
            <a:avLst>
              <a:gd name="adj" fmla="val 6981"/>
            </a:avLst>
          </a:prstGeom>
          <a:solidFill>
            <a:srgbClr val="2A3444"/>
          </a:solidFill>
          <a:ln/>
        </p:spPr>
      </p:sp>
      <p:sp>
        <p:nvSpPr>
          <p:cNvPr id="4" name="Text 2"/>
          <p:cNvSpPr/>
          <p:nvPr/>
        </p:nvSpPr>
        <p:spPr>
          <a:xfrm>
            <a:off x="1066800" y="1793239"/>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DDE3"/>
                </a:solidFill>
                <a:latin typeface="Arial" pitchFamily="34" charset="0"/>
                <a:ea typeface="Arial" pitchFamily="34" charset="-122"/>
                <a:cs typeface="Arial" pitchFamily="34" charset="-120"/>
              </a:rPr>
              <a:t>1/1/1: mine -0.01 ± 0.51, paper -7</a:t>
            </a:r>
            <a:endParaRPr lang="en-US" sz="1500" dirty="0"/>
          </a:p>
        </p:txBody>
      </p:sp>
      <p:sp>
        <p:nvSpPr>
          <p:cNvPr id="5" name="Text 3"/>
          <p:cNvSpPr/>
          <p:nvPr/>
        </p:nvSpPr>
        <p:spPr>
          <a:xfrm>
            <a:off x="1066800" y="2136139"/>
            <a:ext cx="4813808"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2A65A"/>
                </a:solidFill>
                <a:latin typeface="Arial" pitchFamily="34" charset="0"/>
                <a:ea typeface="Arial" pitchFamily="34" charset="-122"/>
                <a:cs typeface="Arial" pitchFamily="34" charset="-120"/>
              </a:rPr>
              <a:t>No effect, about 14 standard errors from the paper</a:t>
            </a:r>
            <a:endParaRPr lang="en-US" sz="1700" dirty="0"/>
          </a:p>
        </p:txBody>
      </p:sp>
      <p:sp>
        <p:nvSpPr>
          <p:cNvPr id="6" name="Shape 4"/>
          <p:cNvSpPr/>
          <p:nvPr/>
        </p:nvSpPr>
        <p:spPr>
          <a:xfrm>
            <a:off x="6197600" y="1539239"/>
            <a:ext cx="5181600" cy="1455420"/>
          </a:xfrm>
          <a:prstGeom prst="roundRect">
            <a:avLst>
              <a:gd name="adj" fmla="val 6981"/>
            </a:avLst>
          </a:prstGeom>
          <a:solidFill>
            <a:srgbClr val="2A3444"/>
          </a:solidFill>
          <a:ln/>
        </p:spPr>
      </p:sp>
      <p:sp>
        <p:nvSpPr>
          <p:cNvPr id="7" name="Text 5"/>
          <p:cNvSpPr/>
          <p:nvPr/>
        </p:nvSpPr>
        <p:spPr>
          <a:xfrm>
            <a:off x="6451600" y="1793239"/>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DDE3"/>
                </a:solidFill>
                <a:latin typeface="Arial" pitchFamily="34" charset="0"/>
                <a:ea typeface="Arial" pitchFamily="34" charset="-122"/>
                <a:cs typeface="Arial" pitchFamily="34" charset="-120"/>
              </a:rPr>
              <a:t>4/4/4: mine -3.72 ± 0.33, paper 0</a:t>
            </a:r>
            <a:endParaRPr lang="en-US" sz="1500" dirty="0"/>
          </a:p>
        </p:txBody>
      </p:sp>
      <p:sp>
        <p:nvSpPr>
          <p:cNvPr id="8" name="Text 6"/>
          <p:cNvSpPr/>
          <p:nvPr/>
        </p:nvSpPr>
        <p:spPr>
          <a:xfrm>
            <a:off x="6451600" y="2136139"/>
            <a:ext cx="492760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2A65A"/>
                </a:solidFill>
                <a:latin typeface="Arial" pitchFamily="34" charset="0"/>
                <a:ea typeface="Arial" pitchFamily="34" charset="-122"/>
                <a:cs typeface="Arial" pitchFamily="34" charset="-120"/>
              </a:rPr>
              <a:t>Clearly worse; every 4/4/4 run is below all others</a:t>
            </a:r>
            <a:endParaRPr lang="en-US" sz="1700" dirty="0"/>
          </a:p>
        </p:txBody>
      </p:sp>
      <p:sp>
        <p:nvSpPr>
          <p:cNvPr id="9" name="Text 7"/>
          <p:cNvSpPr/>
          <p:nvPr/>
        </p:nvSpPr>
        <p:spPr>
          <a:xfrm>
            <a:off x="812800" y="3274061"/>
            <a:ext cx="10883392"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7F5F0"/>
                </a:solidFill>
                <a:latin typeface="Arial" pitchFamily="34" charset="0"/>
                <a:ea typeface="Arial" pitchFamily="34" charset="-122"/>
                <a:cs typeface="Arial" pitchFamily="34" charset="-120"/>
              </a:rPr>
              <a:t>Cannot explain:</a:t>
            </a:r>
            <a:r>
              <a:rPr lang="en-US" sz="1500" dirty="0">
                <a:solidFill>
                  <a:srgbClr val="F7F5F0"/>
                </a:solidFill>
                <a:latin typeface="Arial" pitchFamily="34" charset="0"/>
                <a:ea typeface="Arial" pitchFamily="34" charset="-122"/>
                <a:cs typeface="Arial" pitchFamily="34" charset="-120"/>
              </a:rPr>
              <a:t> why. Untested hypotheses: the 2×2 final map and small data, untuned shared hyperparameters, recurrence confounded with depth.</a:t>
            </a:r>
            <a:endParaRPr lang="en-US" sz="1500" dirty="0"/>
          </a:p>
        </p:txBody>
      </p:sp>
      <p:sp>
        <p:nvSpPr>
          <p:cNvPr id="10" name="Text 8"/>
          <p:cNvSpPr/>
          <p:nvPr/>
        </p:nvSpPr>
        <p:spPr>
          <a:xfrm>
            <a:off x="812800" y="4067811"/>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D9DDE3"/>
                </a:solidFill>
                <a:latin typeface="Arial" pitchFamily="34" charset="0"/>
                <a:ea typeface="Arial" pitchFamily="34" charset="-122"/>
                <a:cs typeface="Arial" pitchFamily="34" charset="-120"/>
              </a:rPr>
              <a:t>Tried:</a:t>
            </a:r>
            <a:r>
              <a:rPr lang="en-US" sz="1500" dirty="0">
                <a:solidFill>
                  <a:srgbClr val="D9DDE3"/>
                </a:solidFill>
                <a:latin typeface="Arial" pitchFamily="34" charset="0"/>
                <a:ea typeface="Arial" pitchFamily="34" charset="-122"/>
                <a:cs typeface="Arial" pitchFamily="34" charset="-120"/>
              </a:rPr>
              <a:t> 3 seeds and training curves. A no-pool variant (4×4 map) is implemented but not run.</a:t>
            </a:r>
            <a:endParaRPr lang="en-US" sz="15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430"/>
                </a:solidFill>
                <a:latin typeface="Arial" pitchFamily="34" charset="0"/>
                <a:ea typeface="Arial" pitchFamily="34" charset="-122"/>
                <a:cs typeface="Arial" pitchFamily="34" charset="-120"/>
              </a:rPr>
              <a:t>What the training curves show</a:t>
            </a:r>
            <a:endParaRPr lang="en-US" sz="3200" dirty="0"/>
          </a:p>
        </p:txBody>
      </p:sp>
      <p:sp>
        <p:nvSpPr>
          <p:cNvPr id="3" name="Shape 1"/>
          <p:cNvSpPr/>
          <p:nvPr/>
        </p:nvSpPr>
        <p:spPr>
          <a:xfrm>
            <a:off x="812800" y="1463039"/>
            <a:ext cx="9525000" cy="3524250"/>
          </a:xfrm>
          <a:prstGeom prst="roundRect">
            <a:avLst>
              <a:gd name="adj" fmla="val 2883"/>
            </a:avLst>
          </a:prstGeom>
          <a:solidFill>
            <a:srgbClr val="FFFFFF"/>
          </a:solidFill>
          <a:ln/>
        </p:spPr>
      </p:sp>
      <p:pic>
        <p:nvPicPr>
          <p:cNvPr id="4" name="Image 0" descr="Training loss and validation top-1 per epoch for twelve runs, three seeds of each variant; 4/4/4 separates from the others"/>
          <p:cNvPicPr>
            <a:picLocks noChangeAspect="1"/>
          </p:cNvPicPr>
          <p:nvPr/>
        </p:nvPicPr>
        <p:blipFill>
          <a:blip r:embed="rId3"/>
          <a:srcRect l="-8" r="-8"/>
          <a:stretch/>
        </p:blipFill>
        <p:spPr>
          <a:xfrm>
            <a:off x="812800" y="1463039"/>
            <a:ext cx="9525000" cy="3524250"/>
          </a:xfrm>
          <a:prstGeom prst="roundRect">
            <a:avLst>
              <a:gd name="adj" fmla="val 2883"/>
            </a:avLst>
          </a:prstGeom>
        </p:spPr>
      </p:pic>
      <p:sp>
        <p:nvSpPr>
          <p:cNvPr id="5" name="Text 2"/>
          <p:cNvSpPr/>
          <p:nvPr/>
        </p:nvSpPr>
        <p:spPr>
          <a:xfrm>
            <a:off x="812800" y="5190489"/>
            <a:ext cx="108833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C2430"/>
                </a:solidFill>
                <a:latin typeface="Arial" pitchFamily="34" charset="0"/>
                <a:ea typeface="Arial" pitchFamily="34" charset="-122"/>
                <a:cs typeface="Arial" pitchFamily="34" charset="-120"/>
              </a:rPr>
              <a:t>Twelve runs, three seeds per variant: the seeds cluster, and 4/4/4 starts slower and stays above in training loss.</a:t>
            </a:r>
            <a:endParaRPr lang="en-US" sz="15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b="1" dirty="0"/>
              <a:t>N</a:t>
            </a:r>
            <a:r>
              <a:rPr lang="en-US" sz="3200" b="1" i="0" dirty="0" smtClean="0">
                <a:solidFill>
                  <a:srgbClr val="1C2430"/>
                </a:solidFill>
                <a:latin typeface="Arial" pitchFamily="34" charset="0"/>
                <a:ea typeface="Arial" pitchFamily="34" charset="-122"/>
                <a:cs typeface="Arial" pitchFamily="34" charset="-120"/>
              </a:rPr>
              <a:t>ot </a:t>
            </a:r>
            <a:r>
              <a:rPr lang="en-US" sz="3200" b="1" i="0" dirty="0">
                <a:solidFill>
                  <a:srgbClr val="1C2430"/>
                </a:solidFill>
                <a:latin typeface="Arial" pitchFamily="34" charset="0"/>
                <a:ea typeface="Arial" pitchFamily="34" charset="-122"/>
                <a:cs typeface="Arial" pitchFamily="34" charset="-120"/>
              </a:rPr>
              <a:t>in the paper</a:t>
            </a:r>
            <a:endParaRPr lang="en-US" sz="3200" dirty="0"/>
          </a:p>
        </p:txBody>
      </p:sp>
      <p:sp>
        <p:nvSpPr>
          <p:cNvPr id="3" name="Shape 1"/>
          <p:cNvSpPr/>
          <p:nvPr/>
        </p:nvSpPr>
        <p:spPr>
          <a:xfrm>
            <a:off x="815975" y="1567814"/>
            <a:ext cx="3380264" cy="2720340"/>
          </a:xfrm>
          <a:prstGeom prst="roundRect">
            <a:avLst>
              <a:gd name="adj" fmla="val 3618"/>
            </a:avLst>
          </a:prstGeom>
          <a:solidFill>
            <a:srgbClr val="FFFFFF"/>
          </a:solidFill>
          <a:ln w="6350">
            <a:solidFill>
              <a:srgbClr val="D8D6CF"/>
            </a:solidFill>
            <a:prstDash val="solid"/>
          </a:ln>
        </p:spPr>
      </p:sp>
      <p:sp>
        <p:nvSpPr>
          <p:cNvPr id="4" name="Text 2"/>
          <p:cNvSpPr/>
          <p:nvPr/>
        </p:nvSpPr>
        <p:spPr>
          <a:xfrm>
            <a:off x="1071880" y="1823721"/>
            <a:ext cx="295450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361"/>
                </a:solidFill>
                <a:latin typeface="Arial" pitchFamily="34" charset="0"/>
                <a:ea typeface="Arial" pitchFamily="34" charset="-122"/>
                <a:cs typeface="Arial" pitchFamily="34" charset="-120"/>
              </a:rPr>
              <a:t>Seed spread</a:t>
            </a:r>
            <a:endParaRPr lang="en-US" sz="1500" dirty="0"/>
          </a:p>
        </p:txBody>
      </p:sp>
      <p:sp>
        <p:nvSpPr>
          <p:cNvPr id="5" name="Text 3"/>
          <p:cNvSpPr/>
          <p:nvPr/>
        </p:nvSpPr>
        <p:spPr>
          <a:xfrm>
            <a:off x="1071880" y="2192021"/>
            <a:ext cx="2954507"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D4ED8"/>
                </a:solidFill>
                <a:latin typeface="Arial" pitchFamily="34" charset="0"/>
                <a:ea typeface="Arial" pitchFamily="34" charset="-122"/>
                <a:cs typeface="Arial" pitchFamily="34" charset="-120"/>
              </a:rPr>
              <a:t>sd 0.4 to 0.8</a:t>
            </a:r>
            <a:endParaRPr lang="en-US" sz="2800" dirty="0"/>
          </a:p>
        </p:txBody>
      </p:sp>
      <p:sp>
        <p:nvSpPr>
          <p:cNvPr id="6" name="Text 4"/>
          <p:cNvSpPr/>
          <p:nvPr/>
        </p:nvSpPr>
        <p:spPr>
          <a:xfrm>
            <a:off x="1071880" y="2791461"/>
            <a:ext cx="2954507"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C2430"/>
                </a:solidFill>
                <a:latin typeface="Arial" pitchFamily="34" charset="0"/>
                <a:ea typeface="Arial" pitchFamily="34" charset="-122"/>
                <a:cs typeface="Arial" pitchFamily="34" charset="-120"/>
              </a:rPr>
              <a:t>Seed 0 alone said +1.25 for 1/1/1; seeds 1 and 2 show it was noise</a:t>
            </a:r>
            <a:endParaRPr lang="en-US" sz="1500" dirty="0"/>
          </a:p>
        </p:txBody>
      </p:sp>
      <p:sp>
        <p:nvSpPr>
          <p:cNvPr id="7" name="Shape 5"/>
          <p:cNvSpPr/>
          <p:nvPr/>
        </p:nvSpPr>
        <p:spPr>
          <a:xfrm>
            <a:off x="4405789" y="1567814"/>
            <a:ext cx="3380343" cy="2720340"/>
          </a:xfrm>
          <a:prstGeom prst="roundRect">
            <a:avLst>
              <a:gd name="adj" fmla="val 3618"/>
            </a:avLst>
          </a:prstGeom>
          <a:solidFill>
            <a:srgbClr val="FFFFFF"/>
          </a:solidFill>
          <a:ln w="6350">
            <a:solidFill>
              <a:srgbClr val="D8D6CF"/>
            </a:solidFill>
            <a:prstDash val="solid"/>
          </a:ln>
        </p:spPr>
      </p:sp>
      <p:sp>
        <p:nvSpPr>
          <p:cNvPr id="8" name="Text 6"/>
          <p:cNvSpPr/>
          <p:nvPr/>
        </p:nvSpPr>
        <p:spPr>
          <a:xfrm>
            <a:off x="4661694" y="1823721"/>
            <a:ext cx="295458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361"/>
                </a:solidFill>
                <a:latin typeface="Arial" pitchFamily="34" charset="0"/>
                <a:ea typeface="Arial" pitchFamily="34" charset="-122"/>
                <a:cs typeface="Arial" pitchFamily="34" charset="-120"/>
              </a:rPr>
              <a:t>Training loss</a:t>
            </a:r>
            <a:endParaRPr lang="en-US" sz="1500" dirty="0"/>
          </a:p>
        </p:txBody>
      </p:sp>
      <p:sp>
        <p:nvSpPr>
          <p:cNvPr id="9" name="Text 7"/>
          <p:cNvSpPr/>
          <p:nvPr/>
        </p:nvSpPr>
        <p:spPr>
          <a:xfrm>
            <a:off x="4661694" y="2192021"/>
            <a:ext cx="2954589" cy="10210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D4ED8"/>
                </a:solidFill>
                <a:latin typeface="Arial" pitchFamily="34" charset="0"/>
                <a:ea typeface="Arial" pitchFamily="34" charset="-122"/>
                <a:cs typeface="Arial" pitchFamily="34" charset="-120"/>
              </a:rPr>
              <a:t>1.14 vs 0.74 to 0.87</a:t>
            </a:r>
            <a:endParaRPr lang="en-US" sz="2800" dirty="0"/>
          </a:p>
        </p:txBody>
      </p:sp>
      <p:sp>
        <p:nvSpPr>
          <p:cNvPr id="10" name="Text 8"/>
          <p:cNvSpPr/>
          <p:nvPr/>
        </p:nvSpPr>
        <p:spPr>
          <a:xfrm>
            <a:off x="4661694" y="3289300"/>
            <a:ext cx="2954589" cy="7683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C2430"/>
                </a:solidFill>
                <a:latin typeface="Arial" pitchFamily="34" charset="0"/>
                <a:ea typeface="Arial" pitchFamily="34" charset="-122"/>
                <a:cs typeface="Arial" pitchFamily="34" charset="-120"/>
              </a:rPr>
              <a:t>4/4/4 fits the data worse: an optimization problem, not overfitting</a:t>
            </a:r>
            <a:endParaRPr lang="en-US" sz="1500" dirty="0"/>
          </a:p>
        </p:txBody>
      </p:sp>
      <p:sp>
        <p:nvSpPr>
          <p:cNvPr id="11" name="Shape 9"/>
          <p:cNvSpPr/>
          <p:nvPr/>
        </p:nvSpPr>
        <p:spPr>
          <a:xfrm>
            <a:off x="7995682" y="1567814"/>
            <a:ext cx="3380343" cy="2720340"/>
          </a:xfrm>
          <a:prstGeom prst="roundRect">
            <a:avLst>
              <a:gd name="adj" fmla="val 3618"/>
            </a:avLst>
          </a:prstGeom>
          <a:solidFill>
            <a:srgbClr val="FFFFFF"/>
          </a:solidFill>
          <a:ln w="6350">
            <a:solidFill>
              <a:srgbClr val="D8D6CF"/>
            </a:solidFill>
            <a:prstDash val="solid"/>
          </a:ln>
        </p:spPr>
      </p:sp>
      <p:sp>
        <p:nvSpPr>
          <p:cNvPr id="12" name="Text 10"/>
          <p:cNvSpPr/>
          <p:nvPr/>
        </p:nvSpPr>
        <p:spPr>
          <a:xfrm>
            <a:off x="8251587" y="1823721"/>
            <a:ext cx="295458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361"/>
                </a:solidFill>
                <a:latin typeface="Arial" pitchFamily="34" charset="0"/>
                <a:ea typeface="Arial" pitchFamily="34" charset="-122"/>
                <a:cs typeface="Arial" pitchFamily="34" charset="-120"/>
              </a:rPr>
              <a:t>Cost per </a:t>
            </a:r>
            <a:r>
              <a:rPr lang="en-US" sz="1500" dirty="0" smtClean="0">
                <a:solidFill>
                  <a:srgbClr val="4A5361"/>
                </a:solidFill>
                <a:latin typeface="Arial" pitchFamily="34" charset="0"/>
                <a:ea typeface="Arial" pitchFamily="34" charset="-122"/>
                <a:cs typeface="Arial" pitchFamily="34" charset="-120"/>
              </a:rPr>
              <a:t>variant run</a:t>
            </a:r>
            <a:endParaRPr lang="en-US" sz="1500" dirty="0"/>
          </a:p>
        </p:txBody>
      </p:sp>
      <p:sp>
        <p:nvSpPr>
          <p:cNvPr id="13" name="Text 11"/>
          <p:cNvSpPr/>
          <p:nvPr/>
        </p:nvSpPr>
        <p:spPr>
          <a:xfrm>
            <a:off x="8251587" y="2192021"/>
            <a:ext cx="2954589"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D4ED8"/>
                </a:solidFill>
                <a:latin typeface="Arial" pitchFamily="34" charset="0"/>
                <a:ea typeface="Arial" pitchFamily="34" charset="-122"/>
                <a:cs typeface="Arial" pitchFamily="34" charset="-120"/>
              </a:rPr>
              <a:t>55 to 78 min</a:t>
            </a:r>
            <a:endParaRPr lang="en-US" sz="2800" dirty="0"/>
          </a:p>
        </p:txBody>
      </p:sp>
      <p:sp>
        <p:nvSpPr>
          <p:cNvPr id="14" name="Text 12"/>
          <p:cNvSpPr/>
          <p:nvPr/>
        </p:nvSpPr>
        <p:spPr>
          <a:xfrm>
            <a:off x="8251587" y="2791461"/>
            <a:ext cx="2954589"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C2430"/>
                </a:solidFill>
                <a:latin typeface="Arial" pitchFamily="34" charset="0"/>
                <a:ea typeface="Arial" pitchFamily="34" charset="-122"/>
                <a:cs typeface="Arial" pitchFamily="34" charset="-120"/>
              </a:rPr>
              <a:t>Grows as steps go from 3 to 12, with no accuracy gain</a:t>
            </a:r>
            <a:endParaRPr lang="en-US" sz="15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430"/>
                </a:solidFill>
                <a:latin typeface="Arial" pitchFamily="34" charset="0"/>
                <a:ea typeface="Arial" pitchFamily="34" charset="-122"/>
                <a:cs typeface="Arial" pitchFamily="34" charset="-120"/>
              </a:rPr>
              <a:t>Backup: the code</a:t>
            </a:r>
            <a:endParaRPr lang="en-US" sz="3200" dirty="0"/>
          </a:p>
        </p:txBody>
      </p:sp>
      <p:sp>
        <p:nvSpPr>
          <p:cNvPr id="3" name="Shape 1"/>
          <p:cNvSpPr/>
          <p:nvPr/>
        </p:nvSpPr>
        <p:spPr>
          <a:xfrm>
            <a:off x="6441219" y="1550605"/>
            <a:ext cx="5175250" cy="2655570"/>
          </a:xfrm>
          <a:prstGeom prst="roundRect">
            <a:avLst>
              <a:gd name="adj" fmla="val 3706"/>
            </a:avLst>
          </a:prstGeom>
          <a:solidFill>
            <a:srgbClr val="FFFFFF"/>
          </a:solidFill>
          <a:ln w="6350">
            <a:solidFill>
              <a:srgbClr val="D8D6CF"/>
            </a:solidFill>
            <a:prstDash val="solid"/>
          </a:ln>
        </p:spPr>
      </p:sp>
      <p:sp>
        <p:nvSpPr>
          <p:cNvPr id="4" name="Text 2"/>
          <p:cNvSpPr/>
          <p:nvPr/>
        </p:nvSpPr>
        <p:spPr>
          <a:xfrm>
            <a:off x="6679622" y="1850325"/>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C2430"/>
                </a:solidFill>
                <a:latin typeface="Arial" pitchFamily="34" charset="0"/>
                <a:ea typeface="Arial" pitchFamily="34" charset="-122"/>
                <a:cs typeface="Arial" pitchFamily="34" charset="-120"/>
              </a:rPr>
              <a:t>Files</a:t>
            </a:r>
            <a:endParaRPr lang="en-US" sz="1800" dirty="0"/>
          </a:p>
        </p:txBody>
      </p:sp>
      <p:sp>
        <p:nvSpPr>
          <p:cNvPr id="5" name="Text 3"/>
          <p:cNvSpPr/>
          <p:nvPr/>
        </p:nvSpPr>
        <p:spPr>
          <a:xfrm>
            <a:off x="6679622" y="2224708"/>
            <a:ext cx="4698441" cy="1767840"/>
          </a:xfrm>
          <a:prstGeom prst="rect">
            <a:avLst/>
          </a:prstGeom>
          <a:noFill/>
          <a:ln/>
        </p:spPr>
        <p:txBody>
          <a:bodyPr wrap="square" lIns="0" tIns="0" rIns="0" bIns="0" rtlCol="0" anchor="t">
            <a:normAutofit fontScale="92500"/>
          </a:bodyPr>
          <a:lstStyle/>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cornet_s.py: CORnet-S, steps per area as an argument</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train.py: SGD loop, evaluation, resume, JSON histories</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analyze.py: mean ± sd, Welch standard error, figures</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reproduce.py: one command for everything</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prep_tiny_imagenet.py: download and class folders</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check_against_official.py: comparison with the official model</a:t>
            </a:r>
            <a:endParaRPr lang="en-US" sz="1400" dirty="0"/>
          </a:p>
        </p:txBody>
      </p:sp>
      <p:sp>
        <p:nvSpPr>
          <p:cNvPr id="6" name="Shape 4"/>
          <p:cNvSpPr/>
          <p:nvPr/>
        </p:nvSpPr>
        <p:spPr>
          <a:xfrm>
            <a:off x="930757" y="1524001"/>
            <a:ext cx="5175250" cy="2655570"/>
          </a:xfrm>
          <a:prstGeom prst="roundRect">
            <a:avLst>
              <a:gd name="adj" fmla="val 3706"/>
            </a:avLst>
          </a:prstGeom>
          <a:solidFill>
            <a:srgbClr val="FFFFFF"/>
          </a:solidFill>
          <a:ln w="6350">
            <a:solidFill>
              <a:srgbClr val="D8D6CF"/>
            </a:solidFill>
            <a:prstDash val="solid"/>
          </a:ln>
        </p:spPr>
      </p:sp>
      <p:sp>
        <p:nvSpPr>
          <p:cNvPr id="7" name="Text 5"/>
          <p:cNvSpPr/>
          <p:nvPr/>
        </p:nvSpPr>
        <p:spPr>
          <a:xfrm>
            <a:off x="1229231" y="2061412"/>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C2430"/>
                </a:solidFill>
                <a:latin typeface="Arial" pitchFamily="34" charset="0"/>
                <a:ea typeface="Arial" pitchFamily="34" charset="-122"/>
                <a:cs typeface="Arial" pitchFamily="34" charset="-120"/>
              </a:rPr>
              <a:t>One recurrent block</a:t>
            </a:r>
            <a:endParaRPr lang="en-US" sz="1800" dirty="0"/>
          </a:p>
        </p:txBody>
      </p:sp>
      <p:sp>
        <p:nvSpPr>
          <p:cNvPr id="8" name="Text 6"/>
          <p:cNvSpPr/>
          <p:nvPr/>
        </p:nvSpPr>
        <p:spPr>
          <a:xfrm>
            <a:off x="1112614" y="2613025"/>
            <a:ext cx="4698441" cy="1270000"/>
          </a:xfrm>
          <a:prstGeom prst="rect">
            <a:avLst/>
          </a:prstGeom>
          <a:noFill/>
          <a:ln/>
        </p:spPr>
        <p:txBody>
          <a:bodyPr wrap="square" lIns="0" tIns="0" rIns="0" bIns="0" rtlCol="0" anchor="t">
            <a:normAutofit/>
          </a:bodyPr>
          <a:lstStyle/>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1×1 conv in, then per step: 1×1, 3×3, 1×1</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Stride 2 on the first step only; skip connection at every step</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Same weights every step, separate BatchNorm per step</a:t>
            </a:r>
            <a:endParaRPr lang="en-US" sz="1400" dirty="0"/>
          </a:p>
          <a:p>
            <a:pPr marL="156718" indent="-156718" algn="l">
              <a:lnSpc>
                <a:spcPts val="1960"/>
              </a:lnSpc>
              <a:buSzPct val="100000"/>
              <a:buChar char="•"/>
            </a:pPr>
            <a:r>
              <a:rPr lang="en-US" sz="1400" dirty="0">
                <a:solidFill>
                  <a:srgbClr val="1C2430"/>
                </a:solidFill>
                <a:latin typeface="Arial" pitchFamily="34" charset="0"/>
                <a:ea typeface="Arial" pitchFamily="34" charset="-122"/>
                <a:cs typeface="Arial" pitchFamily="34" charset="-120"/>
              </a:rPr>
              <a:t>The output of step t is the input of step t+1</a:t>
            </a:r>
            <a:endParaRPr lang="en-US" sz="1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Own Take Away</a:t>
            </a:r>
            <a:endParaRPr lang="en-ZA" dirty="0"/>
          </a:p>
        </p:txBody>
      </p:sp>
      <p:sp>
        <p:nvSpPr>
          <p:cNvPr id="3" name="Text Placeholder 2"/>
          <p:cNvSpPr>
            <a:spLocks noGrp="1"/>
          </p:cNvSpPr>
          <p:nvPr>
            <p:ph type="body" idx="101"/>
          </p:nvPr>
        </p:nvSpPr>
        <p:spPr/>
        <p:txBody>
          <a:bodyPr/>
          <a:lstStyle/>
          <a:p>
            <a:r>
              <a:rPr lang="en-US" dirty="0" smtClean="0"/>
              <a:t> 						</a:t>
            </a:r>
            <a:endParaRPr lang="en-ZA" dirty="0"/>
          </a:p>
        </p:txBody>
      </p:sp>
      <p:sp>
        <p:nvSpPr>
          <p:cNvPr id="4" name="Shape 1"/>
          <p:cNvSpPr/>
          <p:nvPr/>
        </p:nvSpPr>
        <p:spPr>
          <a:xfrm>
            <a:off x="815975" y="1623696"/>
            <a:ext cx="5180330" cy="2633980"/>
          </a:xfrm>
          <a:prstGeom prst="roundRect">
            <a:avLst>
              <a:gd name="adj" fmla="val 3737"/>
            </a:avLst>
          </a:prstGeom>
          <a:solidFill>
            <a:srgbClr val="FFFFFF"/>
          </a:solidFill>
          <a:ln w="6350">
            <a:solidFill>
              <a:srgbClr val="D9D4C7"/>
            </a:solidFill>
            <a:prstDash val="solid"/>
          </a:ln>
        </p:spPr>
      </p:sp>
      <p:sp>
        <p:nvSpPr>
          <p:cNvPr id="5" name="Text 3"/>
          <p:cNvSpPr/>
          <p:nvPr/>
        </p:nvSpPr>
        <p:spPr>
          <a:xfrm>
            <a:off x="887395" y="2143761"/>
            <a:ext cx="4808576"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B2430"/>
                </a:solidFill>
                <a:latin typeface="Arial" pitchFamily="34" charset="0"/>
                <a:ea typeface="Arial" pitchFamily="34" charset="-122"/>
                <a:cs typeface="Arial" pitchFamily="34" charset="-120"/>
              </a:rPr>
              <a:t>The full sweep on Tiny-ImageNet at 64×64: accuracy falls with total steps (3, 6, 8, 12 steps give 49.1, 48.1, 47.9, 45.0). Final train loss: 0.86, 0.73, 0.78, 1.19.</a:t>
            </a:r>
            <a:endParaRPr lang="en-US" sz="1500" dirty="0"/>
          </a:p>
        </p:txBody>
      </p:sp>
      <p:sp>
        <p:nvSpPr>
          <p:cNvPr id="6" name="Text 4"/>
          <p:cNvSpPr/>
          <p:nvPr/>
        </p:nvSpPr>
        <p:spPr>
          <a:xfrm>
            <a:off x="887395" y="3128646"/>
            <a:ext cx="480857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B2430"/>
                </a:solidFill>
                <a:latin typeface="Arial" pitchFamily="34" charset="0"/>
                <a:ea typeface="Arial" pitchFamily="34" charset="-122"/>
                <a:cs typeface="Arial" pitchFamily="34" charset="-120"/>
              </a:rPr>
              <a:t>Noise: about ±0.5 points per accuracy and ±0.7 per difference on 10,000 validation images.</a:t>
            </a:r>
            <a:endParaRPr lang="en-US" sz="1500" dirty="0"/>
          </a:p>
        </p:txBody>
      </p:sp>
      <p:sp>
        <p:nvSpPr>
          <p:cNvPr id="7" name="Shape 6"/>
          <p:cNvSpPr/>
          <p:nvPr/>
        </p:nvSpPr>
        <p:spPr>
          <a:xfrm>
            <a:off x="6202680" y="1620521"/>
            <a:ext cx="5176520" cy="2640330"/>
          </a:xfrm>
          <a:prstGeom prst="roundRect">
            <a:avLst>
              <a:gd name="adj" fmla="val 3848"/>
            </a:avLst>
          </a:prstGeom>
          <a:solidFill>
            <a:srgbClr val="1B2430"/>
          </a:solidFill>
          <a:ln/>
        </p:spPr>
      </p:sp>
      <p:sp>
        <p:nvSpPr>
          <p:cNvPr id="8" name="Text 8"/>
          <p:cNvSpPr/>
          <p:nvPr/>
        </p:nvSpPr>
        <p:spPr>
          <a:xfrm>
            <a:off x="6456680" y="2385795"/>
            <a:ext cx="4808576"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Arial" pitchFamily="34" charset="0"/>
                <a:ea typeface="Arial" pitchFamily="34" charset="-122"/>
                <a:cs typeface="Arial" pitchFamily="34" charset="-120"/>
              </a:rPr>
              <a:t>No benefit of recurrence detected in a small-data, low-resolution setting. Only the 4/4/4 drop is likely real.</a:t>
            </a:r>
            <a:endParaRPr lang="en-US" sz="1700" dirty="0"/>
          </a:p>
        </p:txBody>
      </p:sp>
      <p:sp>
        <p:nvSpPr>
          <p:cNvPr id="9" name="Text 7"/>
          <p:cNvSpPr/>
          <p:nvPr/>
        </p:nvSpPr>
        <p:spPr>
          <a:xfrm>
            <a:off x="6456680" y="1874521"/>
            <a:ext cx="480857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A05A"/>
                </a:solidFill>
                <a:latin typeface="Arial" pitchFamily="34" charset="0"/>
                <a:ea typeface="Arial" pitchFamily="34" charset="-122"/>
                <a:cs typeface="Arial" pitchFamily="34" charset="-120"/>
              </a:rPr>
              <a:t>Takeaway</a:t>
            </a:r>
            <a:endParaRPr lang="en-US" sz="1800" dirty="0"/>
          </a:p>
        </p:txBody>
      </p:sp>
    </p:spTree>
    <p:extLst>
      <p:ext uri="{BB962C8B-B14F-4D97-AF65-F5344CB8AC3E}">
        <p14:creationId xmlns:p14="http://schemas.microsoft.com/office/powerpoint/2010/main" val="2516090269"/>
      </p:ext>
    </p:extLst>
  </p:cSld>
  <p:clrMapOvr>
    <a:masterClrMapping/>
  </p:clrMapOvr>
  <p:timing>
    <p:tnLst>
      <p:par>
        <p:cTn id="1" dur="indefinite" restart="never" nodeType="tmRoot"/>
      </p:par>
    </p:tnLst>
  </p:timing>
</p:sld>
</file>

<file path=ppt/theme/theme1.xml><?xml version="1.0" encoding="utf-8"?>
<a:theme xmlns:a="http://schemas.openxmlformats.org/drawingml/2006/main" name="CORnet-S recurrence ablation: report-back">
  <a:themeElements>
    <a:clrScheme name="CORnet-S recurrence ablation: report-back">
      <a:dk1>
        <a:srgbClr val="1C2430"/>
      </a:dk1>
      <a:lt1>
        <a:srgbClr val="F7F5F0"/>
      </a:lt1>
      <a:dk2>
        <a:srgbClr val="535860"/>
      </a:dk2>
      <a:lt2>
        <a:srgbClr val="E1E0DD"/>
      </a:lt2>
      <a:accent1>
        <a:srgbClr val="1D4ED8"/>
      </a:accent1>
      <a:accent2>
        <a:srgbClr val="F2A65A"/>
      </a:accent2>
      <a:accent3>
        <a:srgbClr val="B45309"/>
      </a:accent3>
      <a:accent4>
        <a:srgbClr val="4A5361"/>
      </a:accent4>
      <a:accent5>
        <a:srgbClr val="D9DDE3"/>
      </a:accent5>
      <a:accent6>
        <a:srgbClr val="AAB2BD"/>
      </a:accent6>
      <a:hlink>
        <a:srgbClr val="0563C1"/>
      </a:hlink>
      <a:folHlink>
        <a:srgbClr val="954F72"/>
      </a:folHlink>
    </a:clrScheme>
    <a:fontScheme name="CORnet-S recurrence ablation: report-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530</TotalTime>
  <Words>1519</Words>
  <Application>Microsoft Office PowerPoint</Application>
  <PresentationFormat>Custom</PresentationFormat>
  <Paragraphs>114</Paragraphs>
  <Slides>10</Slides>
  <Notes>9</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CORnet-S recurrence ablation: report-back</vt:lpstr>
      <vt:lpstr>Does recurrence help CORnet-S?</vt:lpstr>
      <vt:lpstr>The claim</vt:lpstr>
      <vt:lpstr>My setup: scaled down</vt:lpstr>
      <vt:lpstr>My numbers next to the paper's</vt:lpstr>
      <vt:lpstr>Change in top-1 versus 2/4/2</vt:lpstr>
      <vt:lpstr>What did not reproduce</vt:lpstr>
      <vt:lpstr>What the training curves show</vt:lpstr>
      <vt:lpstr>Not in the paper</vt:lpstr>
      <vt:lpstr>Backup: the code</vt:lpstr>
      <vt:lpstr>My Own Take Away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CORnet-S recurrence ablation: report-back</dc:title>
  <dc:subject/>
  <dc:creator/>
  <cp:lastModifiedBy>User</cp:lastModifiedBy>
  <cp:revision>11</cp:revision>
  <dcterms:created xsi:type="dcterms:W3CDTF">2026-10-29T06:37:06Z</dcterms:created>
  <dcterms:modified xsi:type="dcterms:W3CDTF">2026-10-29T17:48:58Z</dcterms:modified>
</cp:coreProperties>
</file>